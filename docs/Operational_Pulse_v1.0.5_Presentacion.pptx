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Operational Pulse organiza el recorrido desde la planificación hasta la captura manual de horas aprobadas en las herramientas corporativas. Versión de demostración del proyecto: 1.0.5.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Administrador administra la estructura. Los Managers administran a sus Técnicos y revisan solicitudes. El Lead puede registrar OT y aprobar bajo delegación manual, nunca su propia OT. Cada Técnico conserva sus registros individuales.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OT programada es una OT normal, sin un tipo compartido adicional. El sistema identifica el Grupo y permite participaciones con Timers y horas propios. Las históricas son individuales. Las Guardias generan una decisión por solicitud. Detener una emergencia abre su documentación y mantiene un aviso si queda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ofrece una matriz semanal con dos filas: Stand By y OT, días de sábado a viernes, totales y copia de fila. Usa horas decimales, con captura diaria a dos decimales y totales que suman las cifras diarias. Las semanas que cruzan de mes se completan y se identifican. ADP mantiene inicio y duración HH:MM, de domingo a sábado. Ejemplo: 8 horas de Guardia menos 1.5 de OT coincidente dejan 6.5 horas de Stand By y 1.5 de OT. Se trata de una guía para captura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beneficios se describen a partir de funciones implementadas, sin atribuir ahorros porcentuales ni resultados no medidos. El objetivo es ayudar a que cada persona capture su OT y Guardia correctamente en las herramientas corporativas.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329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73653"/>
                </a:solidFill>
                <a:latin typeface="Aptos"/>
              </a:defRPr>
            </a:pPr>
            <a:r>
              <a:t>OPERATIONAL PULSE</a:t>
            </a:r>
          </a:p>
        </p:txBody>
      </p:sp>
      <p:pic>
        <p:nvPicPr>
          <p:cNvPr id="4" name="Picture 3" descr="kyndr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10896"/>
            <a:ext cx="950976" cy="2852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455664"/>
            <a:ext cx="11173968" cy="11887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Operational Pulse · v1.0.5 · Presentación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1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173653"/>
                </a:solidFill>
                <a:latin typeface="Aptos"/>
              </a:defRPr>
            </a:pPr>
            <a:r>
              <a:t>Tu operación,</a:t>
            </a:r>
          </a:p>
          <a:p>
            <a:pPr>
              <a:spcAft>
                <a:spcPts val="800"/>
              </a:spcAft>
              <a:defRPr sz="4300" b="1">
                <a:solidFill>
                  <a:srgbClr val="173653"/>
                </a:solidFill>
                <a:latin typeface="Aptos"/>
              </a:defRPr>
            </a:pPr>
            <a:r>
              <a:t>en tiempo claro.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36392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31566F"/>
                </a:solidFill>
                <a:latin typeface="Aptos"/>
              </a:defRPr>
            </a:pPr>
            <a:r>
              <a:t>Planea OT, registra el trabajo y convierte las horas aprobadas en una guía de captura para Claim y ADP.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727448"/>
            <a:ext cx="6080760" cy="795528"/>
          </a:xfrm>
          <a:prstGeom prst="roundRect">
            <a:avLst>
              <a:gd name="adj" fmla="val 12000"/>
            </a:avLst>
          </a:prstGeom>
          <a:solidFill>
            <a:srgbClr val="ECF7F6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8F94"/>
                </a:solidFill>
                <a:latin typeface="Aptos"/>
              </a:defRPr>
            </a:pPr>
            <a:r>
              <a:t>Una misma fuente de horas. Dos formatos de captura.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188720"/>
            <a:ext cx="4251960" cy="4910328"/>
          </a:xfrm>
          <a:prstGeom prst="roundRect">
            <a:avLst>
              <a:gd name="adj" fmla="val 12000"/>
            </a:avLst>
          </a:prstGeom>
          <a:solidFill>
            <a:srgbClr val="17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1536192"/>
            <a:ext cx="3621024" cy="859536"/>
          </a:xfrm>
          <a:prstGeom prst="roundRect">
            <a:avLst>
              <a:gd name="adj" fmla="val 12000"/>
            </a:avLst>
          </a:prstGeom>
          <a:solidFill>
            <a:srgbClr val="23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164591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01  Planificar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20116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3D9E5"/>
                </a:solidFill>
                <a:latin typeface="Aptos"/>
              </a:defRPr>
            </a:pPr>
            <a:r>
              <a:t>Calendario de OT y Guardias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606039"/>
            <a:ext cx="3621024" cy="859536"/>
          </a:xfrm>
          <a:prstGeom prst="roundRect">
            <a:avLst>
              <a:gd name="adj" fmla="val 12000"/>
            </a:avLst>
          </a:prstGeom>
          <a:solidFill>
            <a:srgbClr val="23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2" y="27157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02  Registrar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3081527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3D9E5"/>
                </a:solidFill>
                <a:latin typeface="Aptos"/>
              </a:defRPr>
            </a:pPr>
            <a:r>
              <a:t>Timer y documentación individual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675887"/>
            <a:ext cx="3621024" cy="859536"/>
          </a:xfrm>
          <a:prstGeom prst="roundRect">
            <a:avLst>
              <a:gd name="adj" fmla="val 12000"/>
            </a:avLst>
          </a:prstGeom>
          <a:solidFill>
            <a:srgbClr val="23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2" y="378561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03  Autorizar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4151375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3D9E5"/>
                </a:solidFill>
                <a:latin typeface="Aptos"/>
              </a:defRPr>
            </a:pPr>
            <a:r>
              <a:t>Manager o Lead delegado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4745736"/>
            <a:ext cx="3621024" cy="859536"/>
          </a:xfrm>
          <a:prstGeom prst="roundRect">
            <a:avLst>
              <a:gd name="adj" fmla="val 12000"/>
            </a:avLst>
          </a:prstGeom>
          <a:solidFill>
            <a:srgbClr val="23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2" y="48554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04  Capturar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5221223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3D9E5"/>
                </a:solidFill>
                <a:latin typeface="Aptos"/>
              </a:defRPr>
            </a:pPr>
            <a:r>
              <a:t>Claim decimal · ADP HH:MM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329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73653"/>
                </a:solidFill>
                <a:latin typeface="Aptos"/>
              </a:defRPr>
            </a:pPr>
            <a:r>
              <a:t>OPERATIONAL PULSE</a:t>
            </a:r>
          </a:p>
        </p:txBody>
      </p:sp>
      <p:pic>
        <p:nvPicPr>
          <p:cNvPr id="4" name="Picture 3" descr="kyndr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10896"/>
            <a:ext cx="950976" cy="2852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455664"/>
            <a:ext cx="11173968" cy="11887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Operational Pulse · v1.0.5 · Presentación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2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418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653"/>
                </a:solidFill>
                <a:latin typeface="Aptos"/>
              </a:defRPr>
            </a:pPr>
            <a:r>
              <a:t>Roles claros. Responsabilidades definidas.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718A9B"/>
                </a:solidFill>
                <a:latin typeface="Aptos"/>
              </a:defRPr>
            </a:pPr>
            <a:r>
              <a:t>Cada persona ve y gestiona lo que corresponde a su función.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2240280"/>
            <a:ext cx="2633472" cy="3813048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" y="2459736"/>
            <a:ext cx="347472" cy="54864"/>
          </a:xfrm>
          <a:prstGeom prst="rect">
            <a:avLst/>
          </a:prstGeom>
          <a:solidFill>
            <a:srgbClr val="1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653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72968"/>
            <a:ext cx="22677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8F94"/>
                </a:solidFill>
                <a:latin typeface="Aptos"/>
              </a:defRPr>
            </a:pPr>
            <a:r>
              <a:t>Estructura y accesos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30752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Cuentas, Managers,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Administradores y Leads.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43984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Altas, cambios y bajas.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57216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Recuperación de acceso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según el 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4136" y="2240280"/>
            <a:ext cx="2633472" cy="3813048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57016" y="2459736"/>
            <a:ext cx="347472" cy="54864"/>
          </a:xfrm>
          <a:prstGeom prst="rect">
            <a:avLst/>
          </a:prstGeom>
          <a:solidFill>
            <a:srgbClr val="1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715768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653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72968"/>
            <a:ext cx="22677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8F94"/>
                </a:solidFill>
                <a:latin typeface="Aptos"/>
              </a:defRPr>
            </a:pPr>
            <a:r>
              <a:t>Equipo y aprobación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30752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Grupos y Técnicos.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443984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Reglas de Guardia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y revisión de 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157216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Traslados de Técnicos: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el destino acepta.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2240280"/>
            <a:ext cx="2633472" cy="3813048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3368" y="2459736"/>
            <a:ext cx="347472" cy="54864"/>
          </a:xfrm>
          <a:prstGeom prst="rect">
            <a:avLst/>
          </a:prstGeom>
          <a:solidFill>
            <a:srgbClr val="1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715768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653"/>
                </a:solidFill>
                <a:latin typeface="Aptos"/>
              </a:defRPr>
            </a:pPr>
            <a:r>
              <a:t>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172968"/>
            <a:ext cx="22677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8F94"/>
                </a:solidFill>
                <a:latin typeface="Aptos"/>
              </a:defRPr>
            </a:pPr>
            <a:r>
              <a:t>Respaldo del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730752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Registra su propia OT.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443984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Aprueba al equipo con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delegación activa.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5157216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Sin Guardias ni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autoaprobación.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2240280"/>
            <a:ext cx="2633472" cy="3813048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19" y="2459736"/>
            <a:ext cx="347472" cy="54864"/>
          </a:xfrm>
          <a:prstGeom prst="rect">
            <a:avLst/>
          </a:prstGeom>
          <a:solidFill>
            <a:srgbClr val="1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98864" y="2715768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653"/>
                </a:solidFill>
                <a:latin typeface="Aptos"/>
              </a:defRPr>
            </a:pPr>
            <a:r>
              <a:t>Técnico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3172968"/>
            <a:ext cx="22677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8F94"/>
                </a:solidFill>
                <a:latin typeface="Aptos"/>
              </a:defRPr>
            </a:pPr>
            <a:r>
              <a:t>Trabajo y captura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3730752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OT y Guardias desde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el calendario.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4443984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Timer y documentación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individuales.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5157216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Claim y ADP con sus</a:t>
            </a:r>
          </a:p>
          <a:p>
            <a:pPr>
              <a:spcAft>
                <a:spcPts val="800"/>
              </a:spcAft>
              <a:defRPr sz="1500" b="0">
                <a:solidFill>
                  <a:srgbClr val="31566F"/>
                </a:solidFill>
                <a:latin typeface="Aptos"/>
              </a:defRPr>
            </a:pPr>
            <a:r>
              <a:t>horas aprobadas.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329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73653"/>
                </a:solidFill>
                <a:latin typeface="Aptos"/>
              </a:defRPr>
            </a:pPr>
            <a:r>
              <a:t>OPERATIONAL PULSE</a:t>
            </a:r>
          </a:p>
        </p:txBody>
      </p:sp>
      <p:pic>
        <p:nvPicPr>
          <p:cNvPr id="4" name="Picture 3" descr="kyndr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10896"/>
            <a:ext cx="950976" cy="2852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455664"/>
            <a:ext cx="11173968" cy="11887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Operational Pulse · v1.0.5 · Presentación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3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418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653"/>
                </a:solidFill>
                <a:latin typeface="Aptos"/>
              </a:defRPr>
            </a:pPr>
            <a:r>
              <a:t>Funciones rápidas, con control individual.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718A9B"/>
                </a:solidFill>
                <a:latin typeface="Aptos"/>
              </a:defRPr>
            </a:pPr>
            <a:r>
              <a:t>Un calendario operativo para planear; un Timer propio para registrar.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2848"/>
            <a:ext cx="6995160" cy="3447288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404872"/>
            <a:ext cx="6656832" cy="2999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" y="580644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18A9B"/>
                </a:solidFill>
                <a:latin typeface="Aptos"/>
              </a:defRPr>
            </a:pPr>
            <a:r>
              <a:t>Vista real de la aplicación · datos de prueba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221992"/>
            <a:ext cx="3730752" cy="1115568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2359152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653"/>
                </a:solidFill>
                <a:latin typeface="Aptos"/>
              </a:defRPr>
            </a:pPr>
            <a:r>
              <a:t>Calendario interactivo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2706624"/>
            <a:ext cx="332841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1566F"/>
                </a:solidFill>
                <a:latin typeface="Aptos"/>
              </a:defRPr>
            </a:pPr>
            <a:r>
              <a:t>Clic en un día para OT; arrastre de fechas para una Guardia.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493008"/>
            <a:ext cx="3730752" cy="1115568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3630168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653"/>
                </a:solidFill>
                <a:latin typeface="Aptos"/>
              </a:defRPr>
            </a:pPr>
            <a:r>
              <a:t>OT programada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3977640"/>
            <a:ext cx="332841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1566F"/>
                </a:solidFill>
                <a:latin typeface="Aptos"/>
              </a:defRPr>
            </a:pPr>
            <a:r>
              <a:t>Visible en el Grupo automáticamente, con Timer y horas propios para cada integrante.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764024"/>
            <a:ext cx="3730752" cy="1115568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4901184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653"/>
                </a:solidFill>
                <a:latin typeface="Aptos"/>
              </a:defRPr>
            </a:pPr>
            <a:r>
              <a:t>Timer y documentación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5248656"/>
            <a:ext cx="332841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1566F"/>
                </a:solidFill>
                <a:latin typeface="Aptos"/>
              </a:defRPr>
            </a:pPr>
            <a:r>
              <a:t>Inicio autorizado, pausa por vencimiento y extensión aprobada.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329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73653"/>
                </a:solidFill>
                <a:latin typeface="Aptos"/>
              </a:defRPr>
            </a:pPr>
            <a:r>
              <a:t>OPERATIONAL PULSE</a:t>
            </a:r>
          </a:p>
        </p:txBody>
      </p:sp>
      <p:pic>
        <p:nvPicPr>
          <p:cNvPr id="4" name="Picture 3" descr="kyndr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10896"/>
            <a:ext cx="950976" cy="2852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455664"/>
            <a:ext cx="11173968" cy="11887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Operational Pulse · v1.0.5 · Presentación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4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418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653"/>
                </a:solidFill>
                <a:latin typeface="Aptos"/>
              </a:defRPr>
            </a:pPr>
            <a:r>
              <a:t>Claim y ADP: horas listas para capturar.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718A9B"/>
                </a:solidFill>
                <a:latin typeface="Aptos"/>
              </a:defRPr>
            </a:pPr>
            <a:r>
              <a:t>Mismos registros aprobados, expresados como pide cada herramienta.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7406640" cy="3035808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386584"/>
            <a:ext cx="7114032" cy="24539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" y="5449824"/>
            <a:ext cx="69951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1566F"/>
                </a:solidFill>
                <a:latin typeface="Aptos"/>
              </a:defRPr>
            </a:pPr>
            <a:r>
              <a:t>Stand By = Guardia neta.</a:t>
            </a:r>
          </a:p>
          <a:p>
            <a:pPr>
              <a:spcAft>
                <a:spcPts val="800"/>
              </a:spcAft>
              <a:defRPr sz="1600" b="0">
                <a:solidFill>
                  <a:srgbClr val="31566F"/>
                </a:solidFill>
                <a:latin typeface="Aptos"/>
              </a:defRPr>
            </a:pPr>
            <a:r>
              <a:t>OT = tiempo extra aprobado; la OT coincidente se descuenta de la Guardia.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2231136"/>
            <a:ext cx="3364992" cy="1645920"/>
          </a:xfrm>
          <a:prstGeom prst="roundRect">
            <a:avLst>
              <a:gd name="adj" fmla="val 12000"/>
            </a:avLst>
          </a:prstGeom>
          <a:solidFill>
            <a:srgbClr val="ECF7F4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42316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8F94"/>
                </a:solidFill>
                <a:latin typeface="Aptos"/>
              </a:defRPr>
            </a:pPr>
            <a:r>
              <a:t>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807208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653"/>
                </a:solidFill>
                <a:latin typeface="Aptos"/>
              </a:defRPr>
            </a:pPr>
            <a:r>
              <a:t>Sábado → viernes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73552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8F94"/>
                </a:solidFill>
                <a:latin typeface="Aptos"/>
              </a:defRPr>
            </a:pPr>
            <a:r>
              <a:t>90 min = 1.5 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4078224"/>
            <a:ext cx="3364992" cy="1645920"/>
          </a:xfrm>
          <a:prstGeom prst="roundRect">
            <a:avLst>
              <a:gd name="adj" fmla="val 12000"/>
            </a:avLst>
          </a:prstGeom>
          <a:solidFill>
            <a:srgbClr val="EFF4FC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4270248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65CB"/>
                </a:solidFill>
                <a:latin typeface="Aptos"/>
              </a:defRPr>
            </a:pPr>
            <a:r>
              <a:t>ADP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654296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653"/>
                </a:solidFill>
                <a:latin typeface="Aptos"/>
              </a:defRPr>
            </a:pPr>
            <a:r>
              <a:t>Domingo → sábado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12064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65CB"/>
                </a:solidFill>
                <a:latin typeface="Aptos"/>
              </a:defRPr>
            </a:pPr>
            <a:r>
              <a:t>90 min = 01:30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329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73653"/>
                </a:solidFill>
                <a:latin typeface="Aptos"/>
              </a:defRPr>
            </a:pPr>
            <a:r>
              <a:t>OPERATIONAL PULSE</a:t>
            </a:r>
          </a:p>
        </p:txBody>
      </p:sp>
      <p:pic>
        <p:nvPicPr>
          <p:cNvPr id="4" name="Picture 3" descr="kyndr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10896"/>
            <a:ext cx="950976" cy="2852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455664"/>
            <a:ext cx="11173968" cy="11887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Operational Pulse · v1.0.5 · Presentación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18A9B"/>
                </a:solidFill>
                <a:latin typeface="Aptos"/>
              </a:defRPr>
            </a:pPr>
            <a: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418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653"/>
                </a:solidFill>
                <a:latin typeface="Aptos"/>
              </a:defRPr>
            </a:pPr>
            <a:r>
              <a:t>Menos ambigüedad al registrar y capturar.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718A9B"/>
                </a:solidFill>
                <a:latin typeface="Aptos"/>
              </a:defRPr>
            </a:pPr>
            <a:r>
              <a:t>Beneficios del proyecto para el equipo y sus responsables.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584448" cy="2286000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532888"/>
            <a:ext cx="384048" cy="64008"/>
          </a:xfrm>
          <a:prstGeom prst="rect">
            <a:avLst/>
          </a:prstGeom>
          <a:solidFill>
            <a:srgbClr val="1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852928"/>
            <a:ext cx="31729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653"/>
                </a:solidFill>
                <a:latin typeface="Aptos"/>
              </a:defRPr>
            </a:pPr>
            <a:r>
              <a:t>Captura consistente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538728"/>
            <a:ext cx="317296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1566F"/>
                </a:solidFill>
                <a:latin typeface="Aptos"/>
              </a:defRPr>
            </a:pPr>
            <a:r>
              <a:t>Claim y ADP parten de las mismas horas aprobadas, con el formato correcto en cada vista.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286000"/>
            <a:ext cx="3584448" cy="2286000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4568" y="2532888"/>
            <a:ext cx="384048" cy="64008"/>
          </a:xfrm>
          <a:prstGeom prst="rect">
            <a:avLst/>
          </a:prstGeom>
          <a:solidFill>
            <a:srgbClr val="1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852928"/>
            <a:ext cx="31729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653"/>
                </a:solidFill>
                <a:latin typeface="Aptos"/>
              </a:defRPr>
            </a:pPr>
            <a:r>
              <a:t>Trazabilidad del trabajo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538728"/>
            <a:ext cx="317296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1566F"/>
                </a:solidFill>
                <a:latin typeface="Aptos"/>
              </a:defRPr>
            </a:pPr>
            <a:r>
              <a:t>Solicitudes, documentación, decisiones y extensiones conservan su historial.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2286000"/>
            <a:ext cx="3584448" cy="2286000"/>
          </a:xfrm>
          <a:prstGeom prst="roundRect">
            <a:avLst>
              <a:gd name="adj" fmla="val 12000"/>
            </a:avLst>
          </a:prstGeom>
          <a:solidFill>
            <a:srgbClr val="F3F7FB"/>
          </a:solidFill>
          <a:ln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2532888"/>
            <a:ext cx="384048" cy="64008"/>
          </a:xfrm>
          <a:prstGeom prst="rect">
            <a:avLst/>
          </a:prstGeom>
          <a:solidFill>
            <a:srgbClr val="1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852928"/>
            <a:ext cx="31729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653"/>
                </a:solidFill>
                <a:latin typeface="Aptos"/>
              </a:defRPr>
            </a:pPr>
            <a:r>
              <a:t>Continuidad del equipo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38728"/>
            <a:ext cx="317296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1566F"/>
                </a:solidFill>
                <a:latin typeface="Aptos"/>
              </a:defRPr>
            </a:pPr>
            <a:r>
              <a:t>Roles definidos, delegación y traslados con registros de tiempo individuales.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92040"/>
            <a:ext cx="11082528" cy="722376"/>
          </a:xfrm>
          <a:prstGeom prst="roundRect">
            <a:avLst>
              <a:gd name="adj" fmla="val 12000"/>
            </a:avLst>
          </a:prstGeom>
          <a:solidFill>
            <a:srgbClr val="17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09320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Del trabajo autorizado a una captura clara y verificable.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79592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18A9B"/>
                </a:solidFill>
                <a:latin typeface="Aptos"/>
              </a:defRPr>
            </a:pPr>
            <a:r>
              <a:t>Autores: Samuel Alejandro Díaz Chávez · Francisco Cervantes Marquez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Pulse · Presentación del proyecto · v1.0.5</dc:title>
  <dc:subject>Funciones, roles, Claim, ADP y beneficios</dc:subject>
  <dc:creator>Samuel Alejandro Díaz Chávez · Francisco Cervantes Marquez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