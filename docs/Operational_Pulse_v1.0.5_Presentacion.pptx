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1" r:id="rId13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Operational Pulse organiza el recorrido desde la planificación hasta la captura manual de horas aprobadas en las herramientas corporativas. Versión de demostración del proyecto: 1.0.5.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Administrador administra la estructura. Los Managers administran a sus Técnicos y revisan solicitudes. El Lead puede registrar OT y aprobar bajo delegación manual, nunca su propia OT. Cada Técnico conserva sus registros individuales.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OT programada es una OT normal, sin un tipo compartido adicional. El sistema identifica el Grupo y permite participaciones con Timers y horas propios. Las históricas son individuales. Las Guardias generan una decisión por solicitud. Detener una emergencia abre su documentación y mantiene un aviso si queda pendiente.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Claim ofrece una matriz semanal con dos filas: Stand By y OT, días de sábado a viernes, totales y copia de fila. Usa horas decimales, con captura diaria a dos decimales y totales que suman las cifras diarias. Las semanas que cruzan de mes se completan y se identifican. ADP mantiene inicio y duración HH:MM, de domingo a sábado. Ejemplo: 8 horas de Guardia menos 1.5 de OT coincidente dejan 6.5 horas de Stand By y 1.5 de OT. Se trata de una guía para captura manual.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beneficios se describen a partir de funciones implementadas, sin atribuir ahorros porcentuales ni resultados no medidos. El objetivo es ayudar a que cada persona capture su OT y Guardia correctamente en las herramientas corporativas.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analítica del Manager unifica historial y métricas: una búsqueda y sus filtros se aplican a los registros, indicadores, comparativas y exportación. Permite comparar dos o más meses, revisar distribución por Grupo y Técnico, y consultar el detalle. Sólo las horas aprobadas suman al total; la Guardia neta descuenta OT coincidente y los solapamientos no se duplican. El ejemplo ilustrado viene del entorno de pruebas: la búsqueda CHG-ALPHA tiene dos horas aprobadas en enero, tres en febrero y un registro pendiente en marzo que no suma horas. Los permisos se limitan al equipo bajo su responsabilidad.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ul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92608"/>
            <a:ext cx="320040" cy="3200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5256" y="32918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173653"/>
                </a:solidFill>
                <a:latin typeface="Aptos"/>
              </a:defRPr>
            </a:pPr>
            <a:r>
              <a:t>OPERATIONAL PULSE</a:t>
            </a:r>
          </a:p>
        </p:txBody>
      </p:sp>
      <p:pic>
        <p:nvPicPr>
          <p:cNvPr id="4" name="Picture 3" descr="kyndry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310896"/>
            <a:ext cx="950976" cy="28529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6455664"/>
            <a:ext cx="11173968" cy="11887"/>
          </a:xfrm>
          <a:prstGeom prst="rect">
            <a:avLst/>
          </a:prstGeom>
          <a:solidFill>
            <a:srgbClr val="DF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65392"/>
            <a:ext cx="73152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718A9B"/>
                </a:solidFill>
                <a:latin typeface="Aptos"/>
              </a:defRPr>
            </a:pPr>
            <a:r>
              <a:t>Operational Pulse · v1.0.5 · Presentación del proyecto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56248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800"/>
              </a:spcAft>
              <a:defRPr sz="900" b="0">
                <a:solidFill>
                  <a:srgbClr val="718A9B"/>
                </a:solidFill>
                <a:latin typeface="Aptos"/>
              </a:defRPr>
            </a:pPr>
            <a:r>
              <a:t>1 /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417320"/>
            <a:ext cx="65836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4300" b="1">
                <a:solidFill>
                  <a:srgbClr val="173653"/>
                </a:solidFill>
                <a:latin typeface="Aptos"/>
              </a:defRPr>
            </a:pPr>
            <a:r>
              <a:t>Tu operación,</a:t>
            </a:r>
          </a:p>
          <a:p>
            <a:pPr>
              <a:spcAft>
                <a:spcPts val="800"/>
              </a:spcAft>
              <a:defRPr sz="4300" b="1">
                <a:solidFill>
                  <a:srgbClr val="173653"/>
                </a:solidFill>
                <a:latin typeface="Aptos"/>
              </a:defRPr>
            </a:pPr>
            <a:r>
              <a:t>en tiempo claro.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36392"/>
            <a:ext cx="6217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300" b="0">
                <a:solidFill>
                  <a:srgbClr val="31566F"/>
                </a:solidFill>
                <a:latin typeface="Aptos"/>
              </a:defRPr>
            </a:pPr>
            <a:r>
              <a:t>Planea OT, registra el trabajo y convierte las horas aprobadas en una guía de captura para Claim y ADP.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4727448"/>
            <a:ext cx="6080760" cy="795528"/>
          </a:xfrm>
          <a:prstGeom prst="roundRect">
            <a:avLst>
              <a:gd name="adj" fmla="val 12000"/>
            </a:avLst>
          </a:prstGeom>
          <a:solidFill>
            <a:srgbClr val="ECF7F6"/>
          </a:solidFill>
          <a:ln>
            <a:solidFill>
              <a:srgbClr val="DF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919472"/>
            <a:ext cx="5577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168F94"/>
                </a:solidFill>
                <a:latin typeface="Aptos"/>
              </a:defRPr>
            </a:pPr>
            <a:r>
              <a:t>Una misma fuente de horas. Dos formatos de captura.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60920" y="1188720"/>
            <a:ext cx="4251960" cy="4910328"/>
          </a:xfrm>
          <a:prstGeom prst="roundRect">
            <a:avLst>
              <a:gd name="adj" fmla="val 12000"/>
            </a:avLst>
          </a:prstGeom>
          <a:solidFill>
            <a:srgbClr val="173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80960" y="1536192"/>
            <a:ext cx="3621024" cy="859536"/>
          </a:xfrm>
          <a:prstGeom prst="roundRect">
            <a:avLst>
              <a:gd name="adj" fmla="val 12000"/>
            </a:avLst>
          </a:prstGeom>
          <a:solidFill>
            <a:srgbClr val="2344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91272" y="1645919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FFFFFF"/>
                </a:solidFill>
                <a:latin typeface="Aptos"/>
              </a:defRPr>
            </a:pPr>
            <a:r>
              <a:t>01  Planificar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91272" y="201168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C3D9E5"/>
                </a:solidFill>
                <a:latin typeface="Aptos"/>
              </a:defRPr>
            </a:pPr>
            <a:r>
              <a:t>Calendario de OT y Guardias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0" y="2606039"/>
            <a:ext cx="3621024" cy="859536"/>
          </a:xfrm>
          <a:prstGeom prst="roundRect">
            <a:avLst>
              <a:gd name="adj" fmla="val 12000"/>
            </a:avLst>
          </a:prstGeom>
          <a:solidFill>
            <a:srgbClr val="2344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91272" y="271576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FFFFFF"/>
                </a:solidFill>
                <a:latin typeface="Aptos"/>
              </a:defRPr>
            </a:pPr>
            <a:r>
              <a:t>02  Registrar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91272" y="3081527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C3D9E5"/>
                </a:solidFill>
                <a:latin typeface="Aptos"/>
              </a:defRPr>
            </a:pPr>
            <a:r>
              <a:t>Timer y documentación individual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0" y="3675887"/>
            <a:ext cx="3621024" cy="859536"/>
          </a:xfrm>
          <a:prstGeom prst="roundRect">
            <a:avLst>
              <a:gd name="adj" fmla="val 12000"/>
            </a:avLst>
          </a:prstGeom>
          <a:solidFill>
            <a:srgbClr val="2344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91272" y="3785615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FFFFFF"/>
                </a:solidFill>
                <a:latin typeface="Aptos"/>
              </a:defRPr>
            </a:pPr>
            <a:r>
              <a:t>03  Autorizar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91272" y="4151375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C3D9E5"/>
                </a:solidFill>
                <a:latin typeface="Aptos"/>
              </a:defRPr>
            </a:pPr>
            <a:r>
              <a:t>Manager o Lead delegado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80960" y="4745736"/>
            <a:ext cx="3621024" cy="859536"/>
          </a:xfrm>
          <a:prstGeom prst="roundRect">
            <a:avLst>
              <a:gd name="adj" fmla="val 12000"/>
            </a:avLst>
          </a:prstGeom>
          <a:solidFill>
            <a:srgbClr val="2344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91272" y="485546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FFFFFF"/>
                </a:solidFill>
                <a:latin typeface="Aptos"/>
              </a:defRPr>
            </a:pPr>
            <a:r>
              <a:t>04  Capturar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91272" y="5221223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C3D9E5"/>
                </a:solidFill>
                <a:latin typeface="Aptos"/>
              </a:defRPr>
            </a:pPr>
            <a:r>
              <a:t>Claim decimal · ADP HH:MM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ul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92608"/>
            <a:ext cx="320040" cy="3200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5256" y="32918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173653"/>
                </a:solidFill>
                <a:latin typeface="Aptos"/>
              </a:defRPr>
            </a:pPr>
            <a:r>
              <a:t>OPERATIONAL PULSE</a:t>
            </a:r>
          </a:p>
        </p:txBody>
      </p:sp>
      <p:pic>
        <p:nvPicPr>
          <p:cNvPr id="4" name="Picture 3" descr="kyndry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310896"/>
            <a:ext cx="950976" cy="28529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6455664"/>
            <a:ext cx="11173968" cy="11887"/>
          </a:xfrm>
          <a:prstGeom prst="rect">
            <a:avLst/>
          </a:prstGeom>
          <a:solidFill>
            <a:srgbClr val="DF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65392"/>
            <a:ext cx="73152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718A9B"/>
                </a:solidFill>
                <a:latin typeface="Aptos"/>
              </a:defRPr>
            </a:pPr>
            <a:r>
              <a:t>Operational Pulse · v1.0.5 · Presentación del proyecto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56248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800"/>
              </a:spcAft>
              <a:defRPr sz="900" b="0">
                <a:solidFill>
                  <a:srgbClr val="718A9B"/>
                </a:solidFill>
                <a:latin typeface="Aptos"/>
              </a:defRPr>
            </a:pPr>
            <a:r>
              <a:t>2 /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94183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173653"/>
                </a:solidFill>
                <a:latin typeface="Aptos"/>
              </a:defRPr>
            </a:pPr>
            <a:r>
              <a:t>Roles claros. Responsabilidades definidas.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09344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718A9B"/>
                </a:solidFill>
                <a:latin typeface="Aptos"/>
              </a:defRPr>
            </a:pPr>
            <a:r>
              <a:t>Cada persona ve y gestiona lo que corresponde a su función.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7784" y="2240280"/>
            <a:ext cx="2633472" cy="3813048"/>
          </a:xfrm>
          <a:prstGeom prst="roundRect">
            <a:avLst>
              <a:gd name="adj" fmla="val 12000"/>
            </a:avLst>
          </a:prstGeom>
          <a:solidFill>
            <a:srgbClr val="F3F7FB"/>
          </a:solidFill>
          <a:ln>
            <a:solidFill>
              <a:srgbClr val="DF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" y="2459736"/>
            <a:ext cx="347472" cy="54864"/>
          </a:xfrm>
          <a:prstGeom prst="rect">
            <a:avLst/>
          </a:prstGeom>
          <a:solidFill>
            <a:srgbClr val="168F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715768"/>
            <a:ext cx="22677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100" b="1">
                <a:solidFill>
                  <a:srgbClr val="173653"/>
                </a:solidFill>
                <a:latin typeface="Aptos"/>
              </a:defRPr>
            </a:pPr>
            <a:r>
              <a:t>Administrador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172968"/>
            <a:ext cx="226771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168F94"/>
                </a:solidFill>
                <a:latin typeface="Aptos"/>
              </a:defRPr>
            </a:pPr>
            <a:r>
              <a:t>Estructura y accesos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730752"/>
            <a:ext cx="226771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31566F"/>
                </a:solidFill>
                <a:latin typeface="Aptos"/>
              </a:defRPr>
            </a:pPr>
            <a:r>
              <a:t>Cuentas, Managers,</a:t>
            </a:r>
          </a:p>
          <a:p>
            <a:pPr>
              <a:spcAft>
                <a:spcPts val="800"/>
              </a:spcAft>
              <a:defRPr sz="1500" b="0">
                <a:solidFill>
                  <a:srgbClr val="31566F"/>
                </a:solidFill>
                <a:latin typeface="Aptos"/>
              </a:defRPr>
            </a:pPr>
            <a:r>
              <a:t>Administradores y Leads.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443984"/>
            <a:ext cx="226771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31566F"/>
                </a:solidFill>
                <a:latin typeface="Aptos"/>
              </a:defRPr>
            </a:pPr>
            <a:r>
              <a:t>Altas, cambios y bajas.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157216"/>
            <a:ext cx="226771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31566F"/>
                </a:solidFill>
                <a:latin typeface="Aptos"/>
              </a:defRPr>
            </a:pPr>
            <a:r>
              <a:t>Recuperación de acceso</a:t>
            </a:r>
          </a:p>
          <a:p>
            <a:pPr>
              <a:spcAft>
                <a:spcPts val="800"/>
              </a:spcAft>
              <a:defRPr sz="1500" b="0">
                <a:solidFill>
                  <a:srgbClr val="31566F"/>
                </a:solidFill>
                <a:latin typeface="Aptos"/>
              </a:defRPr>
            </a:pPr>
            <a:r>
              <a:t>según el rol.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74136" y="2240280"/>
            <a:ext cx="2633472" cy="3813048"/>
          </a:xfrm>
          <a:prstGeom prst="roundRect">
            <a:avLst>
              <a:gd name="adj" fmla="val 12000"/>
            </a:avLst>
          </a:prstGeom>
          <a:solidFill>
            <a:srgbClr val="F3F7FB"/>
          </a:solidFill>
          <a:ln>
            <a:solidFill>
              <a:srgbClr val="DF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57016" y="2459736"/>
            <a:ext cx="347472" cy="54864"/>
          </a:xfrm>
          <a:prstGeom prst="rect">
            <a:avLst/>
          </a:prstGeom>
          <a:solidFill>
            <a:srgbClr val="168F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66160" y="2715768"/>
            <a:ext cx="22677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100" b="1">
                <a:solidFill>
                  <a:srgbClr val="173653"/>
                </a:solidFill>
                <a:latin typeface="Aptos"/>
              </a:defRPr>
            </a:pPr>
            <a:r>
              <a:t>Manager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3172968"/>
            <a:ext cx="226771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168F94"/>
                </a:solidFill>
                <a:latin typeface="Aptos"/>
              </a:defRPr>
            </a:pPr>
            <a:r>
              <a:t>Equipo y aprobación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730752"/>
            <a:ext cx="226771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31566F"/>
                </a:solidFill>
                <a:latin typeface="Aptos"/>
              </a:defRPr>
            </a:pPr>
            <a:r>
              <a:t>Grupos y Técnicos.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4443984"/>
            <a:ext cx="226771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31566F"/>
                </a:solidFill>
                <a:latin typeface="Aptos"/>
              </a:defRPr>
            </a:pPr>
            <a:r>
              <a:t>Reglas de Guardia</a:t>
            </a:r>
          </a:p>
          <a:p>
            <a:pPr>
              <a:spcAft>
                <a:spcPts val="800"/>
              </a:spcAft>
              <a:defRPr sz="1500" b="0">
                <a:solidFill>
                  <a:srgbClr val="31566F"/>
                </a:solidFill>
                <a:latin typeface="Aptos"/>
              </a:defRPr>
            </a:pPr>
            <a:r>
              <a:t>y revisión de OT.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5157216"/>
            <a:ext cx="226771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31566F"/>
                </a:solidFill>
                <a:latin typeface="Aptos"/>
              </a:defRPr>
            </a:pPr>
            <a:r>
              <a:t>Traslados de Técnicos:</a:t>
            </a:r>
          </a:p>
          <a:p>
            <a:pPr>
              <a:spcAft>
                <a:spcPts val="800"/>
              </a:spcAft>
              <a:defRPr sz="1500" b="0">
                <a:solidFill>
                  <a:srgbClr val="31566F"/>
                </a:solidFill>
                <a:latin typeface="Aptos"/>
              </a:defRPr>
            </a:pPr>
            <a:r>
              <a:t>el destino acepta.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0488" y="2240280"/>
            <a:ext cx="2633472" cy="3813048"/>
          </a:xfrm>
          <a:prstGeom prst="roundRect">
            <a:avLst>
              <a:gd name="adj" fmla="val 12000"/>
            </a:avLst>
          </a:prstGeom>
          <a:solidFill>
            <a:srgbClr val="F3F7FB"/>
          </a:solidFill>
          <a:ln>
            <a:solidFill>
              <a:srgbClr val="DF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73368" y="2459736"/>
            <a:ext cx="347472" cy="54864"/>
          </a:xfrm>
          <a:prstGeom prst="rect">
            <a:avLst/>
          </a:prstGeom>
          <a:solidFill>
            <a:srgbClr val="168F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82512" y="2715768"/>
            <a:ext cx="22677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100" b="1">
                <a:solidFill>
                  <a:srgbClr val="173653"/>
                </a:solidFill>
                <a:latin typeface="Aptos"/>
              </a:defRPr>
            </a:pPr>
            <a:r>
              <a:t>Lead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2512" y="3172968"/>
            <a:ext cx="226771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168F94"/>
                </a:solidFill>
                <a:latin typeface="Aptos"/>
              </a:defRPr>
            </a:pPr>
            <a:r>
              <a:t>Respaldo del Manager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3730752"/>
            <a:ext cx="226771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31566F"/>
                </a:solidFill>
                <a:latin typeface="Aptos"/>
              </a:defRPr>
            </a:pPr>
            <a:r>
              <a:t>Registra su propia OT.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82512" y="4443984"/>
            <a:ext cx="226771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31566F"/>
                </a:solidFill>
                <a:latin typeface="Aptos"/>
              </a:defRPr>
            </a:pPr>
            <a:r>
              <a:t>Aprueba al equipo con</a:t>
            </a:r>
          </a:p>
          <a:p>
            <a:pPr>
              <a:spcAft>
                <a:spcPts val="800"/>
              </a:spcAft>
              <a:defRPr sz="1500" b="0">
                <a:solidFill>
                  <a:srgbClr val="31566F"/>
                </a:solidFill>
                <a:latin typeface="Aptos"/>
              </a:defRPr>
            </a:pPr>
            <a:r>
              <a:t>delegación activa.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2512" y="5157216"/>
            <a:ext cx="226771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31566F"/>
                </a:solidFill>
                <a:latin typeface="Aptos"/>
              </a:defRPr>
            </a:pPr>
            <a:r>
              <a:t>Sin Guardias ni</a:t>
            </a:r>
          </a:p>
          <a:p>
            <a:pPr>
              <a:spcAft>
                <a:spcPts val="800"/>
              </a:spcAft>
              <a:defRPr sz="1500" b="0">
                <a:solidFill>
                  <a:srgbClr val="31566F"/>
                </a:solidFill>
                <a:latin typeface="Aptos"/>
              </a:defRPr>
            </a:pPr>
            <a:r>
              <a:t>autoaprobación.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06840" y="2240280"/>
            <a:ext cx="2633472" cy="3813048"/>
          </a:xfrm>
          <a:prstGeom prst="roundRect">
            <a:avLst>
              <a:gd name="adj" fmla="val 12000"/>
            </a:avLst>
          </a:prstGeom>
          <a:solidFill>
            <a:srgbClr val="F3F7FB"/>
          </a:solidFill>
          <a:ln>
            <a:solidFill>
              <a:srgbClr val="DF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189719" y="2459736"/>
            <a:ext cx="347472" cy="54864"/>
          </a:xfrm>
          <a:prstGeom prst="rect">
            <a:avLst/>
          </a:prstGeom>
          <a:solidFill>
            <a:srgbClr val="168F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98864" y="2715768"/>
            <a:ext cx="22677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100" b="1">
                <a:solidFill>
                  <a:srgbClr val="173653"/>
                </a:solidFill>
                <a:latin typeface="Aptos"/>
              </a:defRPr>
            </a:pPr>
            <a:r>
              <a:t>Técnico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98864" y="3172968"/>
            <a:ext cx="226771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168F94"/>
                </a:solidFill>
                <a:latin typeface="Aptos"/>
              </a:defRPr>
            </a:pPr>
            <a:r>
              <a:t>Trabajo y captura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98864" y="3730752"/>
            <a:ext cx="226771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31566F"/>
                </a:solidFill>
                <a:latin typeface="Aptos"/>
              </a:defRPr>
            </a:pPr>
            <a:r>
              <a:t>OT y Guardias desde</a:t>
            </a:r>
          </a:p>
          <a:p>
            <a:pPr>
              <a:spcAft>
                <a:spcPts val="800"/>
              </a:spcAft>
              <a:defRPr sz="1500" b="0">
                <a:solidFill>
                  <a:srgbClr val="31566F"/>
                </a:solidFill>
                <a:latin typeface="Aptos"/>
              </a:defRPr>
            </a:pPr>
            <a:r>
              <a:t>el calendario.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98864" y="4443984"/>
            <a:ext cx="226771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31566F"/>
                </a:solidFill>
                <a:latin typeface="Aptos"/>
              </a:defRPr>
            </a:pPr>
            <a:r>
              <a:t>Timer y documentación</a:t>
            </a:r>
          </a:p>
          <a:p>
            <a:pPr>
              <a:spcAft>
                <a:spcPts val="800"/>
              </a:spcAft>
              <a:defRPr sz="1500" b="0">
                <a:solidFill>
                  <a:srgbClr val="31566F"/>
                </a:solidFill>
                <a:latin typeface="Aptos"/>
              </a:defRPr>
            </a:pPr>
            <a:r>
              <a:t>individuales.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98864" y="5157216"/>
            <a:ext cx="226771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31566F"/>
                </a:solidFill>
                <a:latin typeface="Aptos"/>
              </a:defRPr>
            </a:pPr>
            <a:r>
              <a:t>Claim y ADP con sus</a:t>
            </a:r>
          </a:p>
          <a:p>
            <a:pPr>
              <a:spcAft>
                <a:spcPts val="800"/>
              </a:spcAft>
              <a:defRPr sz="1500" b="0">
                <a:solidFill>
                  <a:srgbClr val="31566F"/>
                </a:solidFill>
                <a:latin typeface="Aptos"/>
              </a:defRPr>
            </a:pPr>
            <a:r>
              <a:t>horas aprobadas.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ul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92608"/>
            <a:ext cx="320040" cy="3200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5256" y="32918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173653"/>
                </a:solidFill>
                <a:latin typeface="Aptos"/>
              </a:defRPr>
            </a:pPr>
            <a:r>
              <a:t>OPERATIONAL PULSE</a:t>
            </a:r>
          </a:p>
        </p:txBody>
      </p:sp>
      <p:pic>
        <p:nvPicPr>
          <p:cNvPr id="4" name="Picture 3" descr="kyndry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310896"/>
            <a:ext cx="950976" cy="28529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6455664"/>
            <a:ext cx="11173968" cy="11887"/>
          </a:xfrm>
          <a:prstGeom prst="rect">
            <a:avLst/>
          </a:prstGeom>
          <a:solidFill>
            <a:srgbClr val="DF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65392"/>
            <a:ext cx="73152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718A9B"/>
                </a:solidFill>
                <a:latin typeface="Aptos"/>
              </a:defRPr>
            </a:pPr>
            <a:r>
              <a:t>Operational Pulse · v1.0.5 · Presentación del proyecto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56248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800"/>
              </a:spcAft>
              <a:defRPr sz="900" b="0">
                <a:solidFill>
                  <a:srgbClr val="718A9B"/>
                </a:solidFill>
                <a:latin typeface="Aptos"/>
              </a:defRPr>
            </a:pPr>
            <a:r>
              <a:t>3 /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94183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173653"/>
                </a:solidFill>
                <a:latin typeface="Aptos"/>
              </a:defRPr>
            </a:pPr>
            <a:r>
              <a:t>Funciones rápidas, con control individual.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09344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718A9B"/>
                </a:solidFill>
                <a:latin typeface="Aptos"/>
              </a:defRPr>
            </a:pPr>
            <a:r>
              <a:t>Un calendario operativo para planear; un Timer propio para registrar.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12848"/>
            <a:ext cx="6995160" cy="3447288"/>
          </a:xfrm>
          <a:prstGeom prst="roundRect">
            <a:avLst>
              <a:gd name="adj" fmla="val 12000"/>
            </a:avLst>
          </a:prstGeom>
          <a:solidFill>
            <a:srgbClr val="F3F7FB"/>
          </a:solidFill>
          <a:ln>
            <a:solidFill>
              <a:srgbClr val="DF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alend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404872"/>
            <a:ext cx="6656832" cy="29992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2376" y="5806440"/>
            <a:ext cx="6675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718A9B"/>
                </a:solidFill>
                <a:latin typeface="Aptos"/>
              </a:defRPr>
            </a:pPr>
            <a:r>
              <a:t>Vista real de la aplicación · datos de prueba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2221992"/>
            <a:ext cx="3730752" cy="1115568"/>
          </a:xfrm>
          <a:prstGeom prst="roundRect">
            <a:avLst>
              <a:gd name="adj" fmla="val 12000"/>
            </a:avLst>
          </a:prstGeom>
          <a:solidFill>
            <a:srgbClr val="F5F9FC"/>
          </a:solidFill>
          <a:ln>
            <a:solidFill>
              <a:srgbClr val="DF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65008" y="2359152"/>
            <a:ext cx="332841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173653"/>
                </a:solidFill>
                <a:latin typeface="Aptos"/>
              </a:defRPr>
            </a:pPr>
            <a:r>
              <a:t>Calendario interactivo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2706624"/>
            <a:ext cx="332841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31566F"/>
                </a:solidFill>
                <a:latin typeface="Aptos"/>
              </a:defRPr>
            </a:pPr>
            <a:r>
              <a:t>Clic en un día para OT; arrastre de fechas para una Guardia.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3493008"/>
            <a:ext cx="3730752" cy="1115568"/>
          </a:xfrm>
          <a:prstGeom prst="roundRect">
            <a:avLst>
              <a:gd name="adj" fmla="val 12000"/>
            </a:avLst>
          </a:prstGeom>
          <a:solidFill>
            <a:srgbClr val="F5F9FC"/>
          </a:solidFill>
          <a:ln>
            <a:solidFill>
              <a:srgbClr val="DF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5008" y="3630168"/>
            <a:ext cx="332841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173653"/>
                </a:solidFill>
                <a:latin typeface="Aptos"/>
              </a:defRPr>
            </a:pPr>
            <a:r>
              <a:t>OT programada normal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65008" y="3977640"/>
            <a:ext cx="332841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31566F"/>
                </a:solidFill>
                <a:latin typeface="Aptos"/>
              </a:defRPr>
            </a:pPr>
            <a:r>
              <a:t>Visible en el Grupo automáticamente, con Timer y horas propios para cada integrante.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40" y="4764024"/>
            <a:ext cx="3730752" cy="1115568"/>
          </a:xfrm>
          <a:prstGeom prst="roundRect">
            <a:avLst>
              <a:gd name="adj" fmla="val 12000"/>
            </a:avLst>
          </a:prstGeom>
          <a:solidFill>
            <a:srgbClr val="F5F9FC"/>
          </a:solidFill>
          <a:ln>
            <a:solidFill>
              <a:srgbClr val="DF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65008" y="4901184"/>
            <a:ext cx="332841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173653"/>
                </a:solidFill>
                <a:latin typeface="Aptos"/>
              </a:defRPr>
            </a:pPr>
            <a:r>
              <a:t>Timer y documentación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65008" y="5248656"/>
            <a:ext cx="332841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31566F"/>
                </a:solidFill>
                <a:latin typeface="Aptos"/>
              </a:defRPr>
            </a:pPr>
            <a:r>
              <a:t>Inicio autorizado, pausa por vencimiento y extensión aprobada.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ul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92608"/>
            <a:ext cx="320040" cy="3200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5256" y="32918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173653"/>
                </a:solidFill>
                <a:latin typeface="Aptos"/>
              </a:defRPr>
            </a:pPr>
            <a:r>
              <a:t>OPERATIONAL PULSE</a:t>
            </a:r>
          </a:p>
        </p:txBody>
      </p:sp>
      <p:pic>
        <p:nvPicPr>
          <p:cNvPr id="4" name="Picture 3" descr="kyndry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310896"/>
            <a:ext cx="950976" cy="28529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6455664"/>
            <a:ext cx="11173968" cy="11887"/>
          </a:xfrm>
          <a:prstGeom prst="rect">
            <a:avLst/>
          </a:prstGeom>
          <a:solidFill>
            <a:srgbClr val="DF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65392"/>
            <a:ext cx="73152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718A9B"/>
                </a:solidFill>
                <a:latin typeface="Aptos"/>
              </a:defRPr>
            </a:pPr>
            <a:r>
              <a:t>Operational Pulse · v1.0.5 · Presentación del proyecto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56248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800"/>
              </a:spcAft>
              <a:defRPr sz="900" b="0">
                <a:solidFill>
                  <a:srgbClr val="718A9B"/>
                </a:solidFill>
                <a:latin typeface="Aptos"/>
              </a:defRPr>
            </a:pPr>
            <a:r>
              <a:t>4 /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94183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173653"/>
                </a:solidFill>
                <a:latin typeface="Aptos"/>
              </a:defRPr>
            </a:pPr>
            <a:r>
              <a:t>Claim y ADP: horas listas para capturar.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09344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718A9B"/>
                </a:solidFill>
                <a:latin typeface="Aptos"/>
              </a:defRPr>
            </a:pPr>
            <a:r>
              <a:t>Mismos registros aprobados, expresados como pide cada herramienta.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40280"/>
            <a:ext cx="7406640" cy="3035808"/>
          </a:xfrm>
          <a:prstGeom prst="roundRect">
            <a:avLst>
              <a:gd name="adj" fmla="val 12000"/>
            </a:avLst>
          </a:prstGeom>
          <a:solidFill>
            <a:srgbClr val="F3F7FB"/>
          </a:solidFill>
          <a:ln>
            <a:solidFill>
              <a:srgbClr val="DF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lai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2386584"/>
            <a:ext cx="7114032" cy="24539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2376" y="5449824"/>
            <a:ext cx="6995160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31566F"/>
                </a:solidFill>
                <a:latin typeface="Aptos"/>
              </a:defRPr>
            </a:pPr>
            <a:r>
              <a:t>Stand By = Guardia neta.</a:t>
            </a:r>
          </a:p>
          <a:p>
            <a:pPr>
              <a:spcAft>
                <a:spcPts val="800"/>
              </a:spcAft>
              <a:defRPr sz="1600" b="0">
                <a:solidFill>
                  <a:srgbClr val="31566F"/>
                </a:solidFill>
                <a:latin typeface="Aptos"/>
              </a:defRPr>
            </a:pPr>
            <a:r>
              <a:t>OT = tiempo extra aprobado; la OT coincidente se descuenta de la Guardia.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47888" y="2231136"/>
            <a:ext cx="3364992" cy="1645920"/>
          </a:xfrm>
          <a:prstGeom prst="roundRect">
            <a:avLst>
              <a:gd name="adj" fmla="val 12000"/>
            </a:avLst>
          </a:prstGeom>
          <a:solidFill>
            <a:srgbClr val="ECF7F4"/>
          </a:solidFill>
          <a:ln>
            <a:solidFill>
              <a:srgbClr val="DF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2423160"/>
            <a:ext cx="2880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168F94"/>
                </a:solidFill>
                <a:latin typeface="Aptos"/>
              </a:defRPr>
            </a:pPr>
            <a:r>
              <a:t>CLAIM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807208"/>
            <a:ext cx="28803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173653"/>
                </a:solidFill>
                <a:latin typeface="Aptos"/>
              </a:defRPr>
            </a:pPr>
            <a:r>
              <a:t>Sábado → viernes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3273552"/>
            <a:ext cx="288036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300" b="1">
                <a:solidFill>
                  <a:srgbClr val="168F94"/>
                </a:solidFill>
                <a:latin typeface="Aptos"/>
              </a:defRPr>
            </a:pPr>
            <a:r>
              <a:t>90 min = 1.5 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47888" y="4078224"/>
            <a:ext cx="3364992" cy="1645920"/>
          </a:xfrm>
          <a:prstGeom prst="roundRect">
            <a:avLst>
              <a:gd name="adj" fmla="val 12000"/>
            </a:avLst>
          </a:prstGeom>
          <a:solidFill>
            <a:srgbClr val="EFF4FC"/>
          </a:solidFill>
          <a:ln>
            <a:solidFill>
              <a:srgbClr val="DF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58200" y="4270248"/>
            <a:ext cx="2880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2465CB"/>
                </a:solidFill>
                <a:latin typeface="Aptos"/>
              </a:defRPr>
            </a:pPr>
            <a:r>
              <a:t>ADP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4654296"/>
            <a:ext cx="28803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173653"/>
                </a:solidFill>
                <a:latin typeface="Aptos"/>
              </a:defRPr>
            </a:pPr>
            <a:r>
              <a:t>Domingo → sábado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5120640"/>
            <a:ext cx="288036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300" b="1">
                <a:solidFill>
                  <a:srgbClr val="2465CB"/>
                </a:solidFill>
                <a:latin typeface="Aptos"/>
              </a:defRPr>
            </a:pPr>
            <a:r>
              <a:t>90 min = 01:30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ul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92608"/>
            <a:ext cx="320040" cy="3200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5256" y="32918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173653"/>
                </a:solidFill>
                <a:latin typeface="Aptos"/>
              </a:defRPr>
            </a:pPr>
            <a:r>
              <a:t>OPERATIONAL PULSE</a:t>
            </a:r>
          </a:p>
        </p:txBody>
      </p:sp>
      <p:pic>
        <p:nvPicPr>
          <p:cNvPr id="4" name="Picture 3" descr="kyndry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310896"/>
            <a:ext cx="950976" cy="28529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6455664"/>
            <a:ext cx="11173968" cy="11887"/>
          </a:xfrm>
          <a:prstGeom prst="rect">
            <a:avLst/>
          </a:prstGeom>
          <a:solidFill>
            <a:srgbClr val="DF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65392"/>
            <a:ext cx="73152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718A9B"/>
                </a:solidFill>
                <a:latin typeface="Aptos"/>
              </a:defRPr>
            </a:pPr>
            <a:r>
              <a:t>Operational Pulse · v1.0.5 · Presentación del proyecto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56248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800"/>
              </a:spcAft>
              <a:defRPr sz="900" b="0">
                <a:solidFill>
                  <a:srgbClr val="718A9B"/>
                </a:solidFill>
                <a:latin typeface="Aptos"/>
              </a:defRPr>
            </a:pPr>
            <a:r>
              <a:t>6 /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94183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173653"/>
                </a:solidFill>
                <a:latin typeface="Aptos"/>
              </a:defRPr>
            </a:pPr>
            <a:r>
              <a:t>Menos ambigüedad al registrar y capturar.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09344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718A9B"/>
                </a:solidFill>
                <a:latin typeface="Aptos"/>
              </a:defRPr>
            </a:pPr>
            <a:r>
              <a:t>Beneficios del proyecto para el equipo y sus responsables.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286000"/>
            <a:ext cx="3584448" cy="2286000"/>
          </a:xfrm>
          <a:prstGeom prst="roundRect">
            <a:avLst>
              <a:gd name="adj" fmla="val 12000"/>
            </a:avLst>
          </a:prstGeom>
          <a:solidFill>
            <a:srgbClr val="F3F7FB"/>
          </a:solidFill>
          <a:ln>
            <a:solidFill>
              <a:srgbClr val="DF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8096" y="2532888"/>
            <a:ext cx="384048" cy="64008"/>
          </a:xfrm>
          <a:prstGeom prst="rect">
            <a:avLst/>
          </a:prstGeom>
          <a:solidFill>
            <a:srgbClr val="168F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2852928"/>
            <a:ext cx="317296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100" b="1">
                <a:solidFill>
                  <a:srgbClr val="173653"/>
                </a:solidFill>
                <a:latin typeface="Aptos"/>
              </a:defRPr>
            </a:pPr>
            <a:r>
              <a:t>Captura consistente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538728"/>
            <a:ext cx="3172968" cy="8138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31566F"/>
                </a:solidFill>
                <a:latin typeface="Aptos"/>
              </a:defRPr>
            </a:pPr>
            <a:r>
              <a:t>Claim y ADP parten de las mismas horas aprobadas, con el formato correcto en cada vista.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286000"/>
            <a:ext cx="3584448" cy="2286000"/>
          </a:xfrm>
          <a:prstGeom prst="roundRect">
            <a:avLst>
              <a:gd name="adj" fmla="val 12000"/>
            </a:avLst>
          </a:prstGeom>
          <a:solidFill>
            <a:srgbClr val="F3F7FB"/>
          </a:solidFill>
          <a:ln>
            <a:solidFill>
              <a:srgbClr val="DF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44568" y="2532888"/>
            <a:ext cx="384048" cy="64008"/>
          </a:xfrm>
          <a:prstGeom prst="rect">
            <a:avLst/>
          </a:prstGeom>
          <a:solidFill>
            <a:srgbClr val="168F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4568" y="2852928"/>
            <a:ext cx="317296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100" b="1">
                <a:solidFill>
                  <a:srgbClr val="173653"/>
                </a:solidFill>
                <a:latin typeface="Aptos"/>
              </a:defRPr>
            </a:pPr>
            <a:r>
              <a:t>Trazabilidad del trabajo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8" y="3538728"/>
            <a:ext cx="3172968" cy="8138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31566F"/>
                </a:solidFill>
                <a:latin typeface="Aptos"/>
              </a:defRPr>
            </a:pPr>
            <a:r>
              <a:t>Solicitudes, documentación, decisiones y extensiones conservan su historial.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9871" y="2286000"/>
            <a:ext cx="3584448" cy="2286000"/>
          </a:xfrm>
          <a:prstGeom prst="roundRect">
            <a:avLst>
              <a:gd name="adj" fmla="val 12000"/>
            </a:avLst>
          </a:prstGeom>
          <a:solidFill>
            <a:srgbClr val="F3F7FB"/>
          </a:solidFill>
          <a:ln>
            <a:solidFill>
              <a:srgbClr val="DF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21040" y="2532888"/>
            <a:ext cx="384048" cy="64008"/>
          </a:xfrm>
          <a:prstGeom prst="rect">
            <a:avLst/>
          </a:prstGeom>
          <a:solidFill>
            <a:srgbClr val="168F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2852928"/>
            <a:ext cx="317296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100" b="1">
                <a:solidFill>
                  <a:srgbClr val="173653"/>
                </a:solidFill>
                <a:latin typeface="Aptos"/>
              </a:defRPr>
            </a:pPr>
            <a:r>
              <a:t>Continuidad del equipo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538728"/>
            <a:ext cx="3172968" cy="8138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31566F"/>
                </a:solidFill>
                <a:latin typeface="Aptos"/>
              </a:defRPr>
            </a:pPr>
            <a:r>
              <a:t>Roles definidos, delegación y traslados con registros de tiempo individuales.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892040"/>
            <a:ext cx="11082528" cy="722376"/>
          </a:xfrm>
          <a:prstGeom prst="roundRect">
            <a:avLst>
              <a:gd name="adj" fmla="val 12000"/>
            </a:avLst>
          </a:prstGeom>
          <a:solidFill>
            <a:srgbClr val="173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5093208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800"/>
              </a:spcAft>
              <a:defRPr sz="2200" b="1">
                <a:solidFill>
                  <a:srgbClr val="FFFFFF"/>
                </a:solidFill>
                <a:latin typeface="Aptos"/>
              </a:defRPr>
            </a:pPr>
            <a:r>
              <a:t>Del trabajo autorizado a una captura clara y verificable.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879592"/>
            <a:ext cx="10972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718A9B"/>
                </a:solidFill>
                <a:latin typeface="Aptos"/>
              </a:defRPr>
            </a:pPr>
            <a:r>
              <a:t>Autores: Samuel Alejandro Díaz Chávez · Francisco Cervantes Marquez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92608"/>
            <a:ext cx="320040" cy="3200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5256" y="32918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173653"/>
                </a:solidFill>
                <a:latin typeface="Aptos"/>
              </a:defRPr>
            </a:pPr>
            <a:r>
              <a:t>OPERATIONAL PULSE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310896"/>
            <a:ext cx="950976" cy="28529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6455664"/>
            <a:ext cx="11173968" cy="11887"/>
          </a:xfrm>
          <a:prstGeom prst="rect">
            <a:avLst/>
          </a:prstGeom>
          <a:solidFill>
            <a:srgbClr val="DFE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65392"/>
            <a:ext cx="73152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718A9B"/>
                </a:solidFill>
                <a:latin typeface="Aptos"/>
              </a:defRPr>
            </a:pPr>
            <a:r>
              <a:t>Operational Pulse · v1.0.5 · Presentación del proyecto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56248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800"/>
              </a:spcAft>
              <a:defRPr sz="900" b="0">
                <a:solidFill>
                  <a:srgbClr val="718A9B"/>
                </a:solidFill>
                <a:latin typeface="Aptos"/>
              </a:defRPr>
            </a:pPr>
            <a:r>
              <a:t>5 /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94183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173653"/>
                </a:solidFill>
                <a:latin typeface="Aptos"/>
              </a:defRPr>
            </a:pPr>
            <a:r>
              <a:t>Analítica para decidir y gestionar al equipo.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09344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718A9B"/>
                </a:solidFill>
                <a:latin typeface="Aptos"/>
              </a:defRPr>
            </a:pPr>
            <a:r>
              <a:t>Historial y métricas conectados a la misma búsqueda.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21992"/>
            <a:ext cx="6995160" cy="3538728"/>
          </a:xfrm>
          <a:prstGeom prst="roundRect">
            <a:avLst>
              <a:gd name="adj" fmla="val 12000"/>
            </a:avLst>
          </a:prstGeom>
          <a:solidFill>
            <a:srgbClr val="F3F7FB"/>
          </a:solidFill>
          <a:ln>
            <a:solidFill>
              <a:srgbClr val="DF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anager-analyti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" y="2441448"/>
            <a:ext cx="6547104" cy="2361371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59536" y="4956048"/>
            <a:ext cx="1947672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F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7" y="5102352"/>
            <a:ext cx="8503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718A9B"/>
                </a:solidFill>
                <a:latin typeface="Aptos"/>
              </a:defRPr>
            </a:pPr>
            <a:r>
              <a:t>Enero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56232" y="5029200"/>
            <a:ext cx="75895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100" b="1">
                <a:solidFill>
                  <a:srgbClr val="168F94"/>
                </a:solidFill>
                <a:latin typeface="Aptos"/>
              </a:defRPr>
            </a:pPr>
            <a:r>
              <a:t>2 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35808" y="4956048"/>
            <a:ext cx="1947672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F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54679" y="5102352"/>
            <a:ext cx="8503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718A9B"/>
                </a:solidFill>
                <a:latin typeface="Aptos"/>
              </a:defRPr>
            </a:pPr>
            <a:r>
              <a:t>Febrero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32504" y="5029200"/>
            <a:ext cx="75895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100" b="1">
                <a:solidFill>
                  <a:srgbClr val="168F94"/>
                </a:solidFill>
                <a:latin typeface="Aptos"/>
              </a:defRPr>
            </a:pPr>
            <a:r>
              <a:t>3 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12079" y="4956048"/>
            <a:ext cx="1947672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F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951" y="5102352"/>
            <a:ext cx="8503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718A9B"/>
                </a:solidFill>
                <a:latin typeface="Aptos"/>
              </a:defRPr>
            </a:pPr>
            <a:r>
              <a:t>Marzo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08775" y="5029200"/>
            <a:ext cx="75895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100" b="1">
                <a:solidFill>
                  <a:srgbClr val="168F94"/>
                </a:solidFill>
                <a:latin typeface="Aptos"/>
              </a:defRPr>
            </a:pPr>
            <a:r>
              <a:t>0 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5568696"/>
            <a:ext cx="6492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718A9B"/>
                </a:solidFill>
                <a:latin typeface="Aptos"/>
              </a:defRPr>
            </a:pPr>
            <a:r>
              <a:t>Ejemplo de búsqueda · datos de prueba · horas aprobadas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72983" y="2221992"/>
            <a:ext cx="3730752" cy="1069848"/>
          </a:xfrm>
          <a:prstGeom prst="roundRect">
            <a:avLst>
              <a:gd name="adj" fmla="val 12000"/>
            </a:avLst>
          </a:prstGeom>
          <a:solidFill>
            <a:srgbClr val="F5F9FC"/>
          </a:solidFill>
          <a:ln>
            <a:solidFill>
              <a:srgbClr val="DF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83296" y="2350008"/>
            <a:ext cx="329184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173653"/>
                </a:solidFill>
                <a:latin typeface="Aptos"/>
              </a:defRPr>
            </a:pPr>
            <a:r>
              <a:t>Buscar y filtrar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83296" y="2715768"/>
            <a:ext cx="329184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31566F"/>
                </a:solidFill>
                <a:latin typeface="Aptos"/>
              </a:defRPr>
            </a:pPr>
            <a:r>
              <a:t>Referencia, Técnico, Grupo, tipo y estado del registro.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72983" y="3447288"/>
            <a:ext cx="3730752" cy="1069848"/>
          </a:xfrm>
          <a:prstGeom prst="roundRect">
            <a:avLst>
              <a:gd name="adj" fmla="val 12000"/>
            </a:avLst>
          </a:prstGeom>
          <a:solidFill>
            <a:srgbClr val="F5F9FC"/>
          </a:solidFill>
          <a:ln>
            <a:solidFill>
              <a:srgbClr val="DF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83296" y="3575304"/>
            <a:ext cx="329184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173653"/>
                </a:solidFill>
                <a:latin typeface="Aptos"/>
              </a:defRPr>
            </a:pPr>
            <a:r>
              <a:t>Comparar y distribuir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83296" y="3941064"/>
            <a:ext cx="329184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31566F"/>
                </a:solidFill>
                <a:latin typeface="Aptos"/>
              </a:defRPr>
            </a:pPr>
            <a:r>
              <a:t>Dos o más meses; horas por Grupo y Técnico con los mismos filtros.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72983" y="4672584"/>
            <a:ext cx="3730752" cy="1069848"/>
          </a:xfrm>
          <a:prstGeom prst="roundRect">
            <a:avLst>
              <a:gd name="adj" fmla="val 12000"/>
            </a:avLst>
          </a:prstGeom>
          <a:solidFill>
            <a:srgbClr val="F5F9FC"/>
          </a:solidFill>
          <a:ln>
            <a:solidFill>
              <a:srgbClr val="DF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83296" y="4800600"/>
            <a:ext cx="329184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173653"/>
                </a:solidFill>
                <a:latin typeface="Aptos"/>
              </a:defRPr>
            </a:pPr>
            <a:r>
              <a:t>Consultar y exportar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83296" y="5166360"/>
            <a:ext cx="329184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31566F"/>
                </a:solidFill>
                <a:latin typeface="Aptos"/>
              </a:defRPr>
            </a:pPr>
            <a:r>
              <a:t>Historial, detalle y Excel para revisar las horas aprobadas.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57784" y="5916168"/>
            <a:ext cx="11045952" cy="338328"/>
          </a:xfrm>
          <a:prstGeom prst="roundRect">
            <a:avLst>
              <a:gd name="adj" fmla="val 12000"/>
            </a:avLst>
          </a:prstGeom>
          <a:solidFill>
            <a:srgbClr val="EC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5989320"/>
            <a:ext cx="106984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168F94"/>
                </a:solidFill>
                <a:latin typeface="Aptos"/>
              </a:defRPr>
            </a:pPr>
            <a:r>
              <a:t>Los pendientes y rechazados no suman horas a los indicadores.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Operational Pulse · Presentación del proyecto · v1.0.5</dc:title>
  <dc:subject>Funciones, roles, Claim, ADP, analítica para Managers y beneficios</dc:subject>
  <dc:creator>Samuel Alejandro Díaz Chávez · Francisco Cervantes Marquez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